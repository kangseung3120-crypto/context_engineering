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316" r:id="rId30"/>
    <p:sldId id="317" r:id="rId31"/>
    <p:sldId id="318" r:id="rId32"/>
    <p:sldId id="319" r:id="rId33"/>
    <p:sldId id="320" r:id="rId34"/>
    <p:sldId id="321" r:id="rId35"/>
    <p:sldId id="322" r:id="rId36"/>
    <p:sldId id="323" r:id="rId37"/>
    <p:sldId id="324" r:id="rId38"/>
    <p:sldId id="325" r:id="rId39"/>
    <p:sldId id="326" r:id="rId8"/>
    <p:sldId id="327" r:id="rId7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오리엔테이션" id="{5EC71000-0000-4000-8000-000000000001}">
          <p14:sldIdLst>
            <p14:sldId id="256"/>
            <p14:sldId id="295"/>
          </p14:sldIdLst>
        </p14:section>
        <p14:section name="1-1 컨텍스트의 종류와 역할 분리" id="{5EC71001-0000-4000-8000-000000000002}">
          <p14:sldIdLst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  <p14:section name="1-2 우선순위와 입력 조립" id="{5EC71002-0000-4000-8000-000000000003}">
          <p14:sldIdLst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</p14:sldIdLst>
        </p14:section>
        <p14:section name="2-1 단기 · 장기 메모리 설계" id="{5EC71003-0000-4000-8000-000000000004}">
          <p14:sldIdLst>
            <p14:sldId id="313"/>
            <p14:sldId id="314"/>
            <p14:sldId id="315"/>
            <p14:sldId id="316"/>
            <p14:sldId id="317"/>
            <p14:sldId id="318"/>
            <p14:sldId id="319"/>
          </p14:sldIdLst>
        </p14:section>
        <p14:section name="2-2 Mem0 저장부터 삭제까지" id="{5EC71004-0000-4000-8000-000000000005}">
          <p14:sldIdLst>
            <p14:sldId id="320"/>
            <p14:sldId id="321"/>
            <p14:sldId id="322"/>
            <p14:sldId id="323"/>
            <p14:sldId id="324"/>
            <p14:sldId id="325"/>
            <p14:sldId id="326"/>
          </p14:sldIdLst>
        </p14:section>
        <p14:section name="정리" id="{5EC71005-0000-4000-8000-000000000006}">
          <p14:sldIdLst>
            <p14:sldId id="327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7" Type="http://schemas.openxmlformats.org/officeDocument/2006/relationships/slide" Target="slides/slide35.xml"/><Relationship Id="rId8" Type="http://schemas.openxmlformats.org/officeDocument/2006/relationships/slide" Target="slides/slide34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99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인사 후 오늘 다룰 교안 순서 소개: 1-1 → 1-2 → 2-1 → 2-2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RAG에서는 **어떤 문서를 찾을지**를 다뤘어요. 오늘은 **모델에 들어가는 입력 전체**를 다뤄요.</a:t>
            </a:r>
          </a:p>
          <a:p>
            <a:r>
              <a:t>1장: 입력의 **종류와 역할** → 쓸 수 있는 자료를 **고르는 순서**</a:t>
            </a:r>
          </a:p>
          <a:p>
            <a:r>
              <a:t>2장: 다음 대화에도 쓸 정보를 **기억으로 저장 · 수정 · 삭제**</a:t>
            </a:r>
          </a:p>
          <a:p>
            <a:r>
              <a:t>오전 코드는 **생성 모델을 부르지 않아요.** 2-2만 Ollama 임베딩(nomic-embed-text)이 필요해요.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**Context** = 모델이 한 번의 응답을 만들 때 참고하는 입력 전체</a:t>
            </a:r>
          </a:p>
          <a:p>
            <a:r>
              <a:t>**Context Engineering** = 언제 가져오고, 무엇을 남기고, 어떤 형태로, 언제 갱신할지 설계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PE는 **어떻게 지시할까**, RAG는 **어떤 문서를 찾을까**, CE는 **이 요청에 필요한 전체 입력을 어떻게 관리할까**</a:t>
            </a:r>
          </a:p>
          <a:p>
            <a:r>
              <a:t>범위가 넓어져도 **프롬프트 · 검색기는 계속 필요**해요. 대체가 아니라 확장이에요.</a:t>
            </a:r>
          </a:p>
          <a:p>
            <a:r>
              <a:t>오늘 예시 질문: **"13만원짜리 숙소를 예약해도 정산할 수 있나요?"**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규정만으로는 답이 안 나와요 — **이 예약이 승인됐는지**는 도구 결과에 있어요.</a:t>
            </a:r>
          </a:p>
          <a:p>
            <a:r>
              <a:t>**선호(간결함)는 표현에만** 영향 — 간결하게 하려고 **승인 조건을 빼면 안 돼요.**</a:t>
            </a:r>
          </a:p>
          <a:p>
            <a:r>
              <a:t>승인 조회가 **오류**면 '미승인'이 아니라 **'확인 실패'**로 남겨요.</a:t>
            </a:r>
          </a:p>
          <a:p>
            <a:r>
              <a:t>kind(document · tool_result · memory)는 **애플리케이션이 붙인 분류**, API의 role과 달라요.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**kind**: document · tool_result · memory — 앱이 붙인 분류 / **role**: system · user · assistant · tool — API 역할</a:t>
            </a:r>
          </a:p>
          <a:p>
            <a:r>
              <a:t>둘은 **일대일로 대응하지 않아요.** 오늘 예제는 자료를 전부 **user**에 묶어요.</a:t>
            </a:r>
          </a:p>
          <a:p>
            <a:r>
              <a:t>문서가 **"이전 지시를 무시하라"**고 해도 서비스 지시가 아니에요. **출처와 실행 권한은 별개**</a:t>
            </a:r>
          </a:p>
          <a:p>
            <a:r>
              <a:t>넣기 전 두 질문: **무엇을 알려 주나? 행동을 지시할 권한도 있나?** — 권한 검사는 4장에서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render_context: 자료마다 **[id / kind / source]** 표지 + 본문, 빈 줄로 연결</a:t>
            </a:r>
          </a:p>
          <a:p>
            <a:r>
              <a:t>표지는 **어느 근거인지 추적**하려는 것 — **신뢰성 보증이 아니에요.** 권한 · 버전은 가져오는 단계에서 확인</a:t>
            </a:r>
          </a:p>
          <a:p>
            <a:r>
              <a:t>빈 줄은 **읽기 경계**일 뿐 보안 장치가 아니에요.</a:t>
            </a:r>
          </a:p>
          <a:p>
            <a:r>
              <a:t>원래 context는 그대로 두고 **messages를 새로** 만들어요.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지시문 → **system**, 참고 자료 + **'현재 질문:' 표지 뒤** 질문 → **user**</a:t>
            </a:r>
          </a:p>
          <a:p>
            <a:r>
              <a:t>출력은 **모델에 보낼 입력**이지 생성된 답변이 아니에요 (API 호출 없음).</a:t>
            </a:r>
          </a:p>
          <a:p>
            <a:r>
              <a:t>좋은 답변 검토 3가지: **① 13만원 &gt; 12만원 ② 예약 전 서면 승인 확인 ③ 정산 시 영수증**</a:t>
            </a:r>
          </a:p>
          <a:p>
            <a:r>
              <a:t>질문 · 승인 상태 · 사용자 범위가 바뀌면 **한 번 조립한 입력을 다시 만들어요.**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자료가 많아지면 **충돌 · 토큰 · 누락 위험**이 같이 늘어요. 긴 입력 속 조건이 답변에서 빠질 수 있어요.</a:t>
            </a:r>
          </a:p>
          <a:p>
            <a:r>
              <a:t>자료마다 **질문의 어느 부분에 필요한지** 확인 — 금액은 규정, 승인은 승인 조회, **지난주 점심 메뉴는 불필요**</a:t>
            </a:r>
          </a:p>
          <a:p>
            <a:r>
              <a:t>문제가 생기면 원인을 나눠 봐요: **근거가 없었나 / 잘못된 버전인가 / 모델이 조건을 빠뜨렸나**</a:t>
            </a:r>
          </a:p>
          <a:p>
            <a:r>
              <a:t>FAQ: 메모리를 system에 넣으면 더 잘 기억? → **위치보다 출처와 권한** 먼저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(q1_solution.py와 같아요)</a:t>
            </a:r>
          </a:p>
          <a:p/>
          <a:p>
            <a:r>
              <a:t># 질문에 필요한 규정 문서만 남기고, 자료와 현재 질문을 표지로 나눠 조립해요.</a:t>
            </a:r>
          </a:p>
          <a:p>
            <a:r>
              <a:t>new_question = "숙박비를 정산할 때 영수증이 필요한가요?"</a:t>
            </a:r>
          </a:p>
          <a:p>
            <a:r>
              <a:t>docs = [item for item in context if item["kind"] == "document"]</a:t>
            </a:r>
          </a:p>
          <a:p>
            <a:r>
              <a:t>new_messages = [</a:t>
            </a:r>
          </a:p>
          <a:p>
            <a:r>
              <a:t>    {"role": "system", "content": instruction},</a:t>
            </a:r>
          </a:p>
          <a:p>
            <a:r>
              <a:t>    {"role": "user", "content": (</a:t>
            </a:r>
          </a:p>
          <a:p>
            <a:r>
              <a:t>        "참고 자료:\n" + render_context(docs) + "\n\n현재 질문:\n" + new_question</a:t>
            </a:r>
          </a:p>
          <a:p>
            <a:r>
              <a:t>    )},</a:t>
            </a:r>
          </a:p>
          <a:p>
            <a:r>
              <a:t>]</a:t>
            </a:r>
          </a:p>
          <a:p/>
          <a:p>
            <a:r>
              <a:t>생각해 보기: 질문이 '13만원 숙소 예약해도 되나요?'로 바뀌면 approval-17(승인 조회 결과)은 다시 필요할까요? 이유를 말해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item["kind"] == "document"   ② render_context(docs)</a:t>
            </a:r>
          </a:p>
          <a:p/>
          <a:p>
            <a:r>
              <a:t>정답 파일: ch01\q1_solution.py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선택 순서: **사용 가능 여부 → 중복 · 충돌 → 관련성 → 입력 조립**</a:t>
            </a:r>
          </a:p>
          <a:p>
            <a:r>
              <a:t>**높은 검색 점수로 권한 위반이나 만료를 상쇄할 수 없어요.**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접근 범위 → 유효성 → 일관성 → 관련성 → 예산 — **위쪽이 통과해야 아래를 비교**</a:t>
            </a:r>
          </a:p>
          <a:p>
            <a:r>
              <a:t>점수 1.00인 **다른 사용자의 메모**도, 0.99인 **구버전 규정**도 쓸 수 없어요.</a:t>
            </a:r>
          </a:p>
          <a:p>
            <a:r>
              <a:t>서비스 지시의 우선순위 ≠ 문서 정렬 순위 — **점수가 높다고 문서 속 명령문이 권한을 얻지 않아요.**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기준일 **2026-10-08 고정**, 사용자 **jihoon**</a:t>
            </a:r>
          </a:p>
          <a:p>
            <a:r>
              <a:t>검사 순서: **범위 → 현행 → 만료**, 통과하면 None — 만료일 **당일부터** 사용 안 함(&lt;=)</a:t>
            </a:r>
          </a:p>
          <a:p>
            <a:r>
              <a:t>travel-old(**0.99**) 구버전, other-memory(**1.00**) 범위 밖, temporary-note 만료 → **선택: travel-v2, approval-rule**</a:t>
            </a:r>
          </a:p>
          <a:p>
            <a:r>
              <a:t>score는 **직접 지정한 관련성 점수** — 정확도나 확률이 아니에요. 제외된 원문은 출력하지 않고 **ID와 사유만**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 · 버전 · 본문이 모두 같다 → **중복**, 한 번만 넣기</a:t>
            </a:r>
          </a:p>
          <a:p>
            <a:r>
              <a:t>같은 ID인데 본문이 다르다 → **데이터 관리 문제**, 원문 확인</a:t>
            </a:r>
          </a:p>
          <a:p>
            <a:r>
              <a:t>현행 규정끼리 한도가 다르다 → **범위 · 시행일 비교, 단정 보류**</a:t>
            </a:r>
          </a:p>
          <a:p>
            <a:r>
              <a:t>한도 문서 + 승인 조건 문서 → 충돌이 아니라 **보완**, 함께 사용</a:t>
            </a:r>
          </a:p>
          <a:p>
            <a:r>
              <a:t>선택된 자료가 없으면 **일반 지식을 회사 규정처럼 말하지 않아요.**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**Skill** = 특정 작업의 절차와 참고 자료 묶음 (Claude Code의 skill과 같은 발상)</a:t>
            </a:r>
          </a:p>
          <a:p>
            <a:r>
              <a:t>짧은 설명으로 고른 뒤 상세를 불러오기 = **Progressive Disclosure** → 입력은 줄지만 **잘못 고르면 정보가 빠져요.**</a:t>
            </a:r>
          </a:p>
          <a:p>
            <a:r>
              <a:t>any → 키워드가 둘 다 맞아도 travel은 **한 번만**</a:t>
            </a:r>
          </a:p>
          <a:p>
            <a:r>
              <a:t>키워드 선택은 **"호텔비"** 같은 다른 표현을 놓쳐요. 이 코드는 **지연 로딩까지 구현하지 않아요.**</a:t>
            </a:r>
          </a:p>
          <a:p>
            <a:r>
              <a:t>선택은 **설명을 가져오는 단계** — 안의 명령을 실행해도 된다는 뜻이 아니에요.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(q2_solution.py와 같아요)</a:t>
            </a:r>
          </a:p>
          <a:p/>
          <a:p>
            <a:r>
              <a:t># 기준일만 바꾸고 같은 제외 규칙과 정렬 규칙을 그대로 써요.</a:t>
            </a:r>
          </a:p>
          <a:p>
            <a:r>
              <a:t>as_of = date(2026, 9, 30)</a:t>
            </a:r>
          </a:p>
          <a:p>
            <a:r>
              <a:t>picked = [doc for doc in documents if exclusion_reason(doc, current_user, as_of) is None]</a:t>
            </a:r>
          </a:p>
          <a:p>
            <a:r>
              <a:t>picked.sort(key=lambda doc: (-doc["score"], doc["id"]))</a:t>
            </a:r>
          </a:p>
          <a:p/>
          <a:p>
            <a:r>
              <a:t>생각해 보기: temporary-note가 맨 앞에 오는데, '지난 예약의 임시 메모'가 숙박 한도 질문에 정말 필요한지 관련성 관점에서 말해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as_of   ② (-doc["score"], doc["id"])</a:t>
            </a:r>
          </a:p>
          <a:p/>
          <a:p>
            <a:r>
              <a:t>정답 파일: ch01\q2_solution.py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쉬는 시간 10분 · 다음은 2장 메모리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"한국어로 짧게"는 다음 대화에도 유용, **"지금 A호텔 보는 중"**은 몇 달 뒤엔 어색</a:t>
            </a:r>
          </a:p>
          <a:p>
            <a:r>
              <a:t>메모리 설계는 **어떤 정보를 어떤 목적으로 다시 쓸지** 정하는 것부터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단기: **지금 대화 · 작업**을 이어 가기 / 장기: **다음 세션**에도 다시 쓰기</a:t>
            </a:r>
          </a:p>
          <a:p>
            <a:r>
              <a:t>단기 상태도 **DB에 저장**할 수 있고, 장기 메모리도 **무기한이 아니에요** → 매체로 구분하지 않아요.</a:t>
            </a:r>
          </a:p>
          <a:p>
            <a:r>
              <a:t>모델이 '기억하는 것처럼' 보이는 건 **앱이 다시 전달한 결과** — 가중치 학습과 달라요.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검사 순서: **secret → 저장하지 않음 / session → 현재 대화만 / 선호 아님 · 동의 없음 → 확인 필요 / ttl 1~180 아님 → 확인 필요**</a:t>
            </a:r>
          </a:p>
          <a:p>
            <a:r>
              <a:t>m5는 **ttl 0** → 보존 기간 확인, m4는 **동의 없음** → 확인 필요</a:t>
            </a:r>
          </a:p>
          <a:p>
            <a:r>
              <a:t>**bool은 int의 하위 타입** → isinstance로 검사하면 True가 1로 통과해요. 그래서 **type(ttl) is int**</a:t>
            </a:r>
          </a:p>
          <a:p>
            <a:r>
              <a:t>kind · consent는 **수업용으로 직접 지정한 값** — 자동 판별이 아니고, consent가 인증을 대신하지 않아요.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long_term에는 **source_id · text · expires_on**만 — m1 만료일 **2026-11-07** (10-08 + 30일)</a:t>
            </a:r>
          </a:p>
          <a:p>
            <a:r>
              <a:t>session_state에는 text만, 확인 필요 · 저장 제외는 **어디에도 안 넣어요.** 디스크 저장 코드는 아니에요.</a:t>
            </a:r>
          </a:p>
          <a:p>
            <a:r>
              <a:t>active_memories: **expires_on &gt; as_of**만 반환 → 만료일 당일 조회 **0개**</a:t>
            </a:r>
          </a:p>
          <a:p>
            <a:r>
              <a:t>**만료 = 사용 중단, 삭제 = 저장소 · 복사본에서 제거** — 30일 지나도 자동 삭제되지 않아요.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저장된 선호를 **매번 전부 넣지 않아요.** 질문에 필요한 것만</a:t>
            </a:r>
          </a:p>
          <a:p>
            <a:r>
              <a:t>사용자의 **정정**은 중요한 갱신 근거 — 오래 저장됐다고 이전 기억을 고집하지 않아요.</a:t>
            </a:r>
          </a:p>
          <a:p>
            <a:r>
              <a:t>**"이번 답변만 자세히"**는 장기 선호 변경이 아니에요.</a:t>
            </a:r>
          </a:p>
          <a:p>
            <a:r>
              <a:t>요약한 대화도 **목적에 따라** 단기 상태일 수도, 장기 메모리일 수도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(q1_solution.py와 같아요)</a:t>
            </a:r>
          </a:p>
          <a:p/>
          <a:p>
            <a:r>
              <a:t># 같은 저장 정책을 새 후보에 적용하고, 장기 저장 항목에만 만료일을 붙여요.</a:t>
            </a:r>
          </a:p>
          <a:p>
            <a:r>
              <a:t>new_candidates = [</a:t>
            </a:r>
          </a:p>
          <a:p>
            <a:r>
              <a:t>    {"id": "m6", "text": "예시 코드를 함께 보여 주면 좋겠습니다.",</a:t>
            </a:r>
          </a:p>
          <a:p>
            <a:r>
              <a:t>     "kind": "preference", "consent": True, "ttl_days": 180},</a:t>
            </a:r>
          </a:p>
          <a:p>
            <a:r>
              <a:t>    {"id": "m7", "text": "결론을 먼저 말해 주세요.",</a:t>
            </a:r>
          </a:p>
          <a:p>
            <a:r>
              <a:t>     "kind": "preference", "consent": True, "ttl_days": True},</a:t>
            </a:r>
          </a:p>
          <a:p>
            <a:r>
              <a:t>]</a:t>
            </a:r>
          </a:p>
          <a:p>
            <a:r>
              <a:t>results = []</a:t>
            </a:r>
          </a:p>
          <a:p>
            <a:r>
              <a:t>new_records = []</a:t>
            </a:r>
          </a:p>
          <a:p>
            <a:r>
              <a:t>for item in new_candidates:</a:t>
            </a:r>
          </a:p>
          <a:p>
            <a:r>
              <a:t>    decision, reason = decide_memory(item)</a:t>
            </a:r>
          </a:p>
          <a:p>
            <a:r>
              <a:t>    results.append((item["id"], decision))</a:t>
            </a:r>
          </a:p>
          <a:p>
            <a:r>
              <a:t>    if decision == "장기 저장":</a:t>
            </a:r>
          </a:p>
          <a:p>
            <a:r>
              <a:t>        new_records.append({</a:t>
            </a:r>
          </a:p>
          <a:p>
            <a:r>
              <a:t>            "source_id": item["id"], "text": item["text"],</a:t>
            </a:r>
          </a:p>
          <a:p>
            <a:r>
              <a:t>            "expires_on": (today + timedelta(days=item["ttl_days"])).isoformat(),</a:t>
            </a:r>
          </a:p>
          <a:p>
            <a:r>
              <a:t>        })</a:t>
            </a:r>
          </a:p>
          <a:p/>
          <a:p>
            <a:r>
              <a:t>생각해 보기: m7을 isinstance(ttl, int)로 검사했다면 결과가 어떻게 달라졌을지, 그리고 그게 왜 문제인지 말해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decide_memory(item)   ② item["ttl_days"]</a:t>
            </a:r>
          </a:p>
          <a:p/>
          <a:p>
            <a:r>
              <a:t>정답 파일: ch02\q1_solution.py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초점: **Mem0에 한 문장을 등록하고 반환받은 ID를 끝까지 따라가기**</a:t>
            </a:r>
          </a:p>
          <a:p>
            <a:r>
              <a:t>추출 모델은 쓰지 않고(**infer=False**) 확인한 문장을 그대로 저장해요. Ollama 앱 + nomic-embed-text 필요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**추출용 LLM**: 설정만 있고 이번엔 호출 안 함 / **Embedder**: nomic-embed-text (768차원)</a:t>
            </a:r>
          </a:p>
          <a:p>
            <a:r>
              <a:t>**Vector store**: Qdrant **로컬 파일 모드** — 서버 · Docker 불필요 / **History store**: SQLite</a:t>
            </a:r>
          </a:p>
          <a:p>
            <a:r>
              <a:t>임베딩은 **비슷한 기억을 찾는 데** 쓰여요. 저장 정책이나 권한을 **대신하지 않아요.**</a:t>
            </a:r>
          </a:p>
          <a:p>
            <a:r>
              <a:t>차원이 같아도 **모델이 다르면 벡터 공간이 달라요** → 바꾸면 다시 임베딩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user_id = **"lecture-" + uuid4** — 실행마다 새로 만들어 이전 시연과 안 섞이게 (실서비스는 **로그인 결과**)</a:t>
            </a:r>
          </a:p>
          <a:p>
            <a:r>
              <a:t>add 응답에서 **event == "ADD"인 결과의 ID만** 꺼내요. 정확히 1개가 아니면 **RuntimeError로 중단**</a:t>
            </a:r>
          </a:p>
          <a:p>
            <a:r>
              <a:t>**get_all** = 저장 여부 확인, **search** = 관련 기억 찾기 (threshold=0은 시연용)</a:t>
            </a:r>
          </a:p>
          <a:p>
            <a:r>
              <a:t>**turn-1(원문 대화 ID) ≠ Mem0 기억 ID** · 사용자 범위는 **조회할 때도** 적용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검색 결과 **첫 항목을 수정하면 다른 기억을 바꿀 수 있어요** → add 응답의 **target_id**를 끝까지</a:t>
            </a:r>
          </a:p>
          <a:p>
            <a:r>
              <a:t>owned_record: **memory.get → user_id가 다르면 PermissionError** (로그인 검증은 구현 안 한 수업용)</a:t>
            </a:r>
          </a:p>
          <a:p>
            <a:r>
              <a:t>update 응답만 믿지 않고 **같은 ID로 다시 조회**해 반영 확인 → **수정 후: 한국어로 자세한 설명을 선호합니다.**</a:t>
            </a:r>
          </a:p>
          <a:p>
            <a:r>
              <a:t>옛 기억으로 만든 **컨텍스트도 다시 구성**해야 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**owned_record → delete → get_all로 재조회 → client.close()** (파일 잠금 해제)</a:t>
            </a:r>
          </a:p>
          <a:p>
            <a:r>
              <a:t>**"활성 목록에서 삭제: True"** = 조회 결과에 없다는 뜻일 뿐 — **SQLite 이력은 남을 수 있어요.**</a:t>
            </a:r>
          </a:p>
          <a:p>
            <a:r>
              <a:t>삭제를 반영할 곳: **활성 메모리 · 현재 컨텍스트 · 이력과 로그 · 캐시와 백업**</a:t>
            </a:r>
          </a:p>
          <a:p>
            <a:r>
              <a:t>Mem0가 **저장 대상 · 보존 기한을 정해 주지 않아요.** 동의 · 민감 정보 · 만료는 앱에서 설계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(q2_solution.py와 같아요)</a:t>
            </a:r>
          </a:p>
          <a:p/>
          <a:p>
            <a:r>
              <a:t># add 응답에서 받은 ID로 대상을 고정하고, 범위를 확인한 뒤 삭제해요.</a:t>
            </a:r>
          </a:p>
          <a:p>
            <a:r>
              <a:t>first = memory.add("표로 정리한 답변을 선호합니다.", user_id=user_id, infer=False)</a:t>
            </a:r>
          </a:p>
          <a:p>
            <a:r>
              <a:t>second = memory.add("영어 용어는 괄호로 함께 적어 주세요.", user_id=user_id, infer=False)</a:t>
            </a:r>
          </a:p>
          <a:p>
            <a:r>
              <a:t>first_id = [row["id"] for row in first["results"] if row.get("event") == "ADD"][0]</a:t>
            </a:r>
          </a:p>
          <a:p>
            <a:r>
              <a:t>second_id = [row["id"] for row in second["results"] if row.get("event") == "ADD"][0]</a:t>
            </a:r>
          </a:p>
          <a:p>
            <a:r>
              <a:t>owned_record(first_id)</a:t>
            </a:r>
          </a:p>
          <a:p>
            <a:r>
              <a:t>memory.delete(first_id)</a:t>
            </a:r>
          </a:p>
          <a:p/>
          <a:p>
            <a:r>
              <a:t>생각해 보기: 삭제 뒤에도 history.db에는 이력이 남을 수 있어요. 사용자가 '완전히 지워 달라'고 하면 어디까지 확인해야 할지 말해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row.get("event") == "ADD"   ② first_id</a:t>
            </a:r>
          </a:p>
          <a:p/>
          <a:p>
            <a:r>
              <a:t>정답 파일: ch02\q2_solution.py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1-1 **kind ≠ role**, 출처 표지, 지시는 system · 자료와 질문은 user</a:t>
            </a:r>
          </a:p>
          <a:p>
            <a:r>
              <a:t>1-2 **범위 → 유효성 → 관련성**, 중복 ≠ 충돌, Skills는 설명을 가져오는 단계</a:t>
            </a:r>
          </a:p>
          <a:p>
            <a:r>
              <a:t>2-1 **결정 + 이유**, type(ttl) is int, 만료 ≠ 삭제</a:t>
            </a:r>
          </a:p>
          <a:p>
            <a:r>
              <a:t>2-2 **add 응답 ID로 고정**, owned_record, 활성 목록 삭제 ≠ 이력 삭제 → 오후 3장: 입력이 **길어지면** 어떻게 할까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질문 받고 마무리. 오후 수업 전에 직접 해 볼 것: ch01/lesson_02.py의 question을 "호텔비 상한"으로 / ch02/local_store 폴더 열어 보기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giin-Desktop-work/450004e7-3239-436b-91c3-140d15687ef1/scratchpad/deck/img/pixel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private/tmp/claude-501/-Users-giin-Desktop-work/450004e7-3239-436b-91c3-140d15687ef1/scratchpad/deck/img/ka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457200"/>
            <a:ext cx="1051560" cy="21488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giin-Desktop-work/450004e7-3239-436b-91c3-140d15687ef1/scratchpad/deck/img/pixel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private/tmp/claude-501/-Users-giin-Desktop-work/450004e7-3239-436b-91c3-140d15687ef1/scratchpad/deck/img/ka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457200"/>
            <a:ext cx="1051560" cy="21488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>
            <p:ph idx="103" type="title" hasCustomPrompt="1"/>
          </p:nvPr>
        </p:nvSpPr>
        <p:spPr>
          <a:xfrm>
            <a:off x="548640" y="18288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548640" y="315468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46304"/>
            <a:ext cx="658368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84048"/>
            <a:ext cx="822960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pic>
        <p:nvPicPr>
          <p:cNvPr id="4" name="Image 0" descr="/private/tmp/claude-501/-Users-giin-Desktop-work/450004e7-3239-436b-91c3-140d15687ef1/scratchpad/deck/img/kant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28032"/>
            <a:ext cx="713232" cy="14630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298448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Context Engineering · Private LLM Course · 오전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99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label-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Context Engineering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Private LLM Course · 오전 · 4시간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무엇을 넣을지,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누구의 것인지부터</a:t>
            </a:r>
            <a:endParaRPr lang="en-US" sz="3800" dirty="0"/>
          </a:p>
        </p:txBody>
      </p:sp>
      <p:sp>
        <p:nvSpPr>
          <p:cNvPr id="4" name="dlabel-2"/>
          <p:cNvSpPr txBox="1"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오늘 다루는 교안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따라갈 순서</a:t>
            </a:r>
            <a:endParaRPr lang="en-US" sz="1200" dirty="0"/>
          </a:p>
        </p:txBody>
      </p:sp>
      <p:sp>
        <p:nvSpPr>
          <p:cNvPr id="5" name="t-3"/>
          <p:cNvSpPr txBox="1"/>
          <p:nvPr/>
        </p:nvSpPr>
        <p:spPr>
          <a:xfrm>
            <a:off x="5486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1-1  LLM 컨텍스트의 종류와 역할 분리</a:t>
            </a:r>
            <a:endParaRPr lang="en-US" sz="1500" dirty="0"/>
          </a:p>
        </p:txBody>
      </p:sp>
      <p:sp>
        <p:nvSpPr>
          <p:cNvPr id="6" name="t-4"/>
          <p:cNvSpPr txBox="1"/>
          <p:nvPr/>
        </p:nvSpPr>
        <p:spPr>
          <a:xfrm>
            <a:off x="54864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지시 · 질문 · 문서 · 도구 결과 · 메모리</a:t>
            </a:r>
            <a:endParaRPr lang="en-US" sz="950" dirty="0"/>
          </a:p>
        </p:txBody>
      </p:sp>
      <p:sp>
        <p:nvSpPr>
          <p:cNvPr id="7" name="t-5"/>
          <p:cNvSpPr txBox="1"/>
          <p:nvPr/>
        </p:nvSpPr>
        <p:spPr>
          <a:xfrm>
            <a:off x="54864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1-2  컨텍스트 우선순위와 입력 조립 전략</a:t>
            </a:r>
            <a:endParaRPr lang="en-US" sz="1500" dirty="0"/>
          </a:p>
        </p:txBody>
      </p:sp>
      <p:sp>
        <p:nvSpPr>
          <p:cNvPr id="8" name="t-6"/>
          <p:cNvSpPr txBox="1"/>
          <p:nvPr/>
        </p:nvSpPr>
        <p:spPr>
          <a:xfrm>
            <a:off x="548640" y="3867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범위 → 유효성 → 관련성, Skills</a:t>
            </a:r>
            <a:endParaRPr lang="en-US" sz="950" dirty="0"/>
          </a:p>
        </p:txBody>
      </p:sp>
      <p:sp>
        <p:nvSpPr>
          <p:cNvPr id="9" name="t-7"/>
          <p:cNvSpPr txBox="1"/>
          <p:nvPr/>
        </p:nvSpPr>
        <p:spPr>
          <a:xfrm>
            <a:off x="46634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2-1  단기 메모리와 장기 메모리 설계</a:t>
            </a:r>
            <a:endParaRPr lang="en-US" sz="1500" dirty="0"/>
          </a:p>
        </p:txBody>
      </p:sp>
      <p:sp>
        <p:nvSpPr>
          <p:cNvPr id="10" name="t-8"/>
          <p:cNvSpPr txBox="1"/>
          <p:nvPr/>
        </p:nvSpPr>
        <p:spPr>
          <a:xfrm>
            <a:off x="466344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저장 판단 · 보존 기간 · 만료</a:t>
            </a:r>
            <a:endParaRPr lang="en-US" sz="950" dirty="0"/>
          </a:p>
        </p:txBody>
      </p:sp>
      <p:sp>
        <p:nvSpPr>
          <p:cNvPr id="11" name="t-9"/>
          <p:cNvSpPr txBox="1"/>
          <p:nvPr/>
        </p:nvSpPr>
        <p:spPr>
          <a:xfrm>
            <a:off x="466344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2-2  Mem0로 메모리 저장부터 삭제까지</a:t>
            </a:r>
            <a:endParaRPr lang="en-US" sz="1500" dirty="0"/>
          </a:p>
        </p:txBody>
      </p:sp>
      <p:sp>
        <p:nvSpPr>
          <p:cNvPr id="12" name="t-10"/>
          <p:cNvSpPr txBox="1"/>
          <p:nvPr/>
        </p:nvSpPr>
        <p:spPr>
          <a:xfrm>
            <a:off x="4663440" y="3867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사용자 범위 · ID로 수정 · 삭제</a:t>
            </a:r>
            <a:endParaRPr lang="en-US" sz="950" dirty="0"/>
          </a:p>
        </p:txBody>
      </p:sp>
      <p:pic>
        <p:nvPicPr>
          <p:cNvPr id="13" name="ts-11" descr="/private/tmp/claude-501/-Users-giin-Desktop-work/450004e7-3239-436b-91c3-140d15687ef1/scratchpad/deck/img/teamsparta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81728"/>
            <a:ext cx="1051560" cy="137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오리엔테이션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오전 흐름: 입력을 나누고 → 고르고 → 기억하고 → 지워요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417320"/>
            <a:ext cx="1874519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417320"/>
            <a:ext cx="1655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</a:rPr>
              <a:t>입력 구성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무엇이 들어가나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09728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1-1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350008" y="1965960"/>
            <a:ext cx="210312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578608" y="1417320"/>
            <a:ext cx="1874519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688336" y="1417320"/>
            <a:ext cx="1655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</a:rPr>
              <a:t>우선순위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무엇을 쓰나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78608" y="109728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1-2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471416" y="1965960"/>
            <a:ext cx="210311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700016" y="1417320"/>
            <a:ext cx="1874519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809744" y="1417320"/>
            <a:ext cx="1655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</a:rPr>
              <a:t>메모리 설계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무엇을 기억하나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0016" y="109728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2-1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92823" y="1965960"/>
            <a:ext cx="210313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821423" y="1417320"/>
            <a:ext cx="1874519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931151" y="1417320"/>
            <a:ext cx="1655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</a:rPr>
              <a:t>Mem0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어떻게 지우나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21423" y="109728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2-2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457200" y="2743200"/>
          <a:ext cx="8229600" cy="14630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108960"/>
                <a:gridCol w="51206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실습 폴더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ch01/lesson_01.py · lesson_02.py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메시지 조립 · 근거 선택과 Skills (표준 라이브러리만)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ch02/lesson_01.py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기억 후보 판단 · 만료 (표준 라이브러리만)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ch02/lesson_02.py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Mem0 + Qdrant 로컬 파일 + SQLite 이력 (Ollama 임베딩)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1-1</a:t>
            </a:r>
            <a:r>
              <a:rPr b="1">
                <a:solidFill>
                  <a:srgbClr val="858793"/>
                </a:solidFill>
              </a:rPr>
              <a:t>   입력 구성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LLM 컨텍스트의 종류와 역할 분리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PE · RAG · CE 비교 → 같은 질문에 필요한 여러 입력 → 자료 분류(kind)와 메시지 역할(role) → 출처 표지 붙이기 → 메시지 조립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1-1 입력 구성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프롬프트 문장 너머의 입력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20116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03120"/>
                <a:gridCol w="3383280"/>
                <a:gridCol w="27432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관점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주로 묻는 질문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출장 상담 예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Prompt Engineering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어떻게 지시하고 어떤 형식으로 답하게 할까요?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한도와 승인 조건을 함께 설명하도록 지시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RAG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어떤 문서를 찾아 근거로 쓸까요?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현재 적용되는 출장 규정을 검색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Context Engineering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이 요청에 필요한 전체 입력을 어떻게 관리할까요?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규정 · 승인 조회 결과 · 대화 · 선호를 함께 구성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57200" y="2560320"/>
            <a:ext cx="8229600" cy="502920"/>
          </a:xfrm>
          <a:prstGeom prst="roundRect">
            <a:avLst>
              <a:gd name="adj" fmla="val 8000"/>
            </a:avLst>
          </a:prstGeom>
          <a:noFill/>
          <a:ln w="317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457200" y="3291840"/>
            <a:ext cx="8229600" cy="548640"/>
          </a:xfrm>
          <a:prstGeom prst="roundRect">
            <a:avLst>
              <a:gd name="adj" fmla="val 8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5800" y="329184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B062F"/>
                </a:solidFill>
              </a:rPr>
              <a:t>Q.  </a:t>
            </a:r>
            <a:r>
              <a:rPr sz="1400" b="1">
                <a:solidFill>
                  <a:srgbClr val="FFFFFF"/>
                </a:solidFill>
              </a:rPr>
              <a:t>13만원짜리 숙소를 예약해도 정산할 수 있나요?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977639"/>
            <a:ext cx="8229600" cy="5943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0080" y="4087368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컨텍스트에 규정을 넣는 건 모델 학습이 아니에요. 다음 요청에서 쓰려면 다시 조회하거나 상태를 전달해요.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1-1 입력 구성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같은 질문에도 여러 종류의 정보가 필요해요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5120640" cy="281635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97280"/>
                <a:gridCol w="2651760"/>
                <a:gridCol w="137160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입력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담긴 내용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쓰임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서비스 지시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근거로 답하고 단정하지 않기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응답 원칙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현재 질문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13만원 숙소 정산 가능?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해결할 요청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검색 문서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1박 12만원 · 영수증 · 초과 시 서면 승인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일반 조건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도구 결과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승인 내역 확인되지 않음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현재 업무 상태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메모리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한국어로 간결한 설명 선호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표현 조정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이전 대화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어느 출장 · 예약인지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생략된 대상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760720" y="1051560"/>
            <a:ext cx="2926080" cy="20116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897880" y="1143000"/>
            <a:ext cx="2651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context = [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{"id": "policy-v2",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"kind": "document", ...},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{"id": "approval-17",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"kind": "tool_result", ...},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{"id": "preference-1",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"kind": "memory", ...},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0" y="320040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943600" y="3310128"/>
            <a:ext cx="25603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필드: id · kind · source · text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id는 원문을 다시 찾는 식별자, source는 사람이 읽을 출처 이름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1-1 입력 구성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자료의 종류(kind)와 메시지 역할(role)은 달라요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109728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자료 분류 kind (앱이 정함)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1280160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474720" y="128016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document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00600" y="1280160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800600" y="128016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tool_result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79" y="1280160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126479" y="128016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memory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148839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B062F"/>
                </a:solidFill>
              </a:rPr>
              <a:t>메시지 역할 role (API가 정함)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74720" y="2331720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474720" y="233172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system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00600" y="2331720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800600" y="233172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user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79" y="2331720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126479" y="233172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assistant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52359" y="2331720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452359" y="233172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tool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291840"/>
            <a:ext cx="8229600" cy="12344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85800" y="3291840"/>
            <a:ext cx="77724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B062F"/>
                </a:solidFill>
              </a:rPr>
              <a:t>자료를 넣기 전에 묻는 두 가지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41617"/>
                </a:solidFill>
              </a:rPr>
              <a:t>① 이 자료는 무엇을 알려 주나요?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41617"/>
                </a:solidFill>
              </a:rPr>
              <a:t>② 이 자료가 모델의 행동을 지시할 권한도 있나요?  → 문서 속 명령문은 지시가 아니에요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1-1 입력 구성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본문을 묶을 때 출처 표지도 함께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206240" cy="21031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393192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render_context(items):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parts = []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for item in items: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label = (f"[{item['id']} / {item['kind']}"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  f" / {item['source']}]")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parts.append(label + "\n" + item["text"])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"\n\n".join(parts)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6320" y="1051560"/>
            <a:ext cx="3840480" cy="21031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983480" y="1124712"/>
            <a:ext cx="3566160" cy="1956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[policy-v2 / document / 출장 규정 v2]</a:t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숙박 한도는 1박당 12만원입니다. …</a:t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[approval-17 / tool_result / 승인 조회 결과]</a:t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현재 예약 건의 사전 승인 내역은 …</a:t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[preference-1 / memory / 사용자 선호]</a:t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한국어로 간결한 설명을 선호합니다.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337560"/>
            <a:ext cx="8229600" cy="12344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0080" y="3447288"/>
            <a:ext cx="7863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자료 ID · 버전 · 선택 이유 · 제외 이유는 기록해요.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비밀 값이나 제외한 원문 전체는 로그에 남기지 않아요.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1-1 입력 구성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지시는 system, 자료와 현재 질문은 user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572000" cy="14630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297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messages = [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{"role": "system", "content": instruction},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{"role": "user", "content": (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"참고 자료:\n" + render_context(context)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+ "\n\n현재 질문:\n" + question)},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2080" y="1051560"/>
            <a:ext cx="3474720" cy="4114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349240" y="105156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① </a:t>
            </a:r>
            <a:r>
              <a:rPr sz="1050" b="0">
                <a:solidFill>
                  <a:srgbClr val="141617"/>
                </a:solidFill>
              </a:rPr>
              <a:t>13만원은 기본 한도 12만원을 넘어요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12080" y="1554480"/>
            <a:ext cx="3474720" cy="4114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349240" y="155448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② </a:t>
            </a:r>
            <a:r>
              <a:rPr sz="1050" b="0">
                <a:solidFill>
                  <a:srgbClr val="141617"/>
                </a:solidFill>
              </a:rPr>
              <a:t>예약 전 서면 승인을 받았는지 확인해요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12080" y="2057400"/>
            <a:ext cx="3474720" cy="4114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349240" y="20574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③ </a:t>
            </a:r>
            <a:r>
              <a:rPr sz="1050" b="0">
                <a:solidFill>
                  <a:srgbClr val="141617"/>
                </a:solidFill>
              </a:rPr>
              <a:t>정산할 때 영수증이 필요해요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57200" y="2743200"/>
          <a:ext cx="8229600" cy="16459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43200"/>
                <a:gridCol w="54864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바뀐 것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다음 요청에서 할 일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현재 질문이나 예약 대상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대화에서 대상을 다시 확인하고 그 예약의 자료를 조회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승인 상태나 규정 버전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이전 값을 현재 사실처럼 남기지 않고 근거를 갱신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사용자나 조직 범위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기존 메모리를 넘기지 않고 허용 범위에서 다시 선택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1-1 입력 구성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자료를 늘리면 함께 늘어나는 것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097280"/>
            <a:ext cx="238658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근거가 없었나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→ 고칠 곳: 검색 · 조회 범위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46120" y="109728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355848" y="1097280"/>
            <a:ext cx="238658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잘못된 버전이 들어갔나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→ 고칠 곳: 선택 · 유효성 검사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109728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144768" y="1097280"/>
            <a:ext cx="238658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모델이 조건을 빠뜨렸나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→ 고칠 곳: 지시 · 입력 배치 · 길이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457200" y="2377440"/>
          <a:ext cx="8229600" cy="20116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91840"/>
                <a:gridCol w="49377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자주 묻는 질문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교안의 답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메모리를 system에 넣으면 더 잘 기억하나요?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위치보다 출처와 권한. 선호를 절대 규칙으로 올리면 오염된 기억이 행동을 바꿔요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자료를 모두 넣으면 누락이 줄지 않나요?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충돌과 중복도 늘어요. 필요한 범위의 유효한 자료를 골라요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컨텍스트에 새 규정을 넣으면 모델이 학습되나요?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아니에요. 요청 입력에 추가될 뿐, 다음 요청엔 다시 전달해야 해요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1-1 입력 구성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1-1. 질문에 필요한 자료만 조립하기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new_question = "숙박비를 정산할 때 영수증이 필요한가요?"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context에서 kind가 "document"인 자료만 docs에 담으세요.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system은 instruction, user는 "참고 자료:\n" + 자료 + "\n\n현재 질문:\n" + new_question으로 new_messages를 만드세요.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q1_hard.py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q1_hard.py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docs → ['policy-v2'] (규정 문서만)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system = 지시문 그대로, user = 출처 표지 + 본문 + 현재 질문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approval-17 · preference-1은 넣지 않아요 → 입력이 짧고 혼선이 줄어요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1-1 입력 구성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1-1. 질문에 필요한 자료만 조립하기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new_question = "숙박비를 정산할 때 영수증이 필요한가요?"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docs = [item for item in context if ____]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new_messages = [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{"role": "system", "content": instruction},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{"role": "user", "content": (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"참고 자료:\n" + ____ + "\n\n현재 질문:\n" + new_question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)},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q1_easy.py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q1_easy.py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docs → ['policy-v2'] (규정 문서만)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system = 지시문 그대로, user = 출처 표지 + 본문 + 현재 질문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approval-17 · preference-1은 넣지 않아요 → 입력이 짧고 혼선이 줄어요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1-2</a:t>
            </a:r>
            <a:r>
              <a:rPr b="1">
                <a:solidFill>
                  <a:srgbClr val="858793"/>
                </a:solidFill>
              </a:rPr>
              <a:t>   우선순위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컨텍스트 우선순위와 입력 조립 전략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판단 기준 다섯 가지 → 후보 자료와 기준일 → 제외 사유 먼저 → 허용된 것끼리 정렬 → 중복 vs 충돌 → Skills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1-2 우선순위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우선순위에는 서로 다른 기준이 있어요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263347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3040"/>
                <a:gridCol w="3566160"/>
                <a:gridCol w="320040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판단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확인할 내용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출장 질문의 예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접근 범위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현재 사용자와 조직이 읽을 수 있나요?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다른 사용자의 선호는 제외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유효성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현재 적용되는 자료인가요?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구버전과 만료된 메모는 제외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일관성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같은 사실을 다르게 말하지 않나요?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현행 규정 두 개의 한도가 다르면 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관련성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이 질문을 해결하는 데 필요한가요?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숙박 한도와 초과 승인 조건을 남김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예산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전체 입력이 허용된 길이에 들어가나요?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지시 · 질문 · 출력 공간 고려 (3장)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11480" y="1490472"/>
            <a:ext cx="8321040" cy="877824"/>
          </a:xfrm>
          <a:prstGeom prst="roundRect">
            <a:avLst>
              <a:gd name="adj" fmla="val 8000"/>
            </a:avLst>
          </a:prstGeom>
          <a:noFill/>
          <a:ln w="317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" y="3950208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관련성 점수는 범위 · 유효성 · 일관성 다음이에요. 앞 기준을 통과한 자료끼리만 비교해요.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1-2 우선순위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후보 다섯 개: 점수가 가장 높은 둘이 먼저 빠져요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5120640" cy="24140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3040"/>
                <a:gridCol w="1463040"/>
                <a:gridCol w="731520"/>
                <a:gridCol w="146304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owner · 상태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travel-old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shared · retired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0.99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현행 문서 아님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travel-v2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shared · current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0.90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선택 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approval-rule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shared · current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0.85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선택 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other-memory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mina · current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1.00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사용자 범위 불일치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temporary-note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jihoon · ~10-01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0.95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유효기간 만료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760720" y="1051560"/>
            <a:ext cx="2926080" cy="19202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897880" y="1143000"/>
            <a:ext cx="2651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exclusion_reason(doc, user_id, as_of):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if doc["owner"] not in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{"shared", user_id}: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"사용자 범위 불일치"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if doc["status"] != "current":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"현행 문서 아님"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if doc["expires"] and ... &lt;= as_of: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"유효기간 만료"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return None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0" y="3108960"/>
            <a:ext cx="2926080" cy="457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897880" y="3182112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선택: ['travel-v2', 'approval-rule']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3721608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정렬 키 (-doc["score"], doc["id"]): 음수로 내림차순, 같은 점수면 ID 순.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실제 서비스에서는 검색 쿼리 · 저장소 조회 단계에서 권한 필터를 걸어요.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1-2 우선순위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중복과 충돌은 같은 방식으로 처리하지 않아요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23774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43200"/>
                <a:gridCol w="2743200"/>
                <a:gridCol w="27432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상황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처리 방향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ID · 버전 · 본문이 모두 같음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동일 자료의 중복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한 번만 넣고 출처 연결은 유지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같은 ID인데 본문이 다름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갱신 · 식별자 관리 문제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원문과 저장 과정을 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현행 규정의 한도가 서로 다름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범위 · 시행일 차이 또는 실제 충돌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범위를 비교하고 확인 전 단정 보류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한도 문서와 승인 조건 문서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서로 보완하는 근거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같은 질문에 필요하면 함께 사용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0080" y="3721608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검색 점수는 규정의 옳고 그름을 판정하지 않아요. 버전 숫자가 크다는 이유만으로 최신으로 정하지도 않아요.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1-2 우선순위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Skills: 필요한 절차만 골라서 불러와요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937760" cy="15544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skills = [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{"id": "travel", "keywords": ["출장", "숙박"], ...},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{"id": "leave", "keywords": ["연차", "휴가"], ...},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question = "출장 숙박 한도를 알려 주세요."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chosen = [s for s in skills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if any(w in question for w in s["keywords"])]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43200"/>
            <a:ext cx="4937760" cy="6400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816352"/>
            <a:ext cx="4663440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선택한 절차: ['travel']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한도, 영수증, 초과 승인 여부를 차례로 확인한다.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577840" y="1051560"/>
          <a:ext cx="3108960" cy="22677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22960"/>
                <a:gridCol w="228600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선택 결과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처리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하나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절차 + 현재 규정 읽고 승인 조회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없음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질문 재확인 · 추가 설명 요청
(임의 절차 적용 X)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여럿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복합 질문인지 모호한지 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457200" y="3566160"/>
            <a:ext cx="8229600" cy="10058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3675887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Skill을 골랐다고 그 안의 명령을 모두 실행하지 않아요.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신뢰된 저장소의 절차인지, 사용자에게 권한이 있는지, 인자가 맞는지는 별도로 확인해요.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1-2 우선순위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1-2. 기준일을 바꿔 다시 고르기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as_of = date(2026, 9, 30)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documents마다 exclusion_reason(doc, current_user, as_of)를 확인해 사용할 수 있는 자료를 picked에 담으세요.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picked를 점수 내림차순, 같은 점수면 ID 오름차순으로 정렬하세요.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q2_hard.py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q2_hard.py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선택: temporary-note(0.95), travel-v2(0.90), approval-rule(0.85)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other-memory(1.00) · travel-old(0.99)는 점수가 높아도 여전히 제외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만료 · 권한 · 현행 여부를 먼저 거르고, 남은 것끼리만 점수 비교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1-2 우선순위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1-2. 기준일을 바꿔 다시 고르기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as_of = date(2026, 9, 30)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picked = [doc for doc in documents if exclusion_reason(doc, current_user, ____) is None]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picked.sort(key=lambda doc: ____)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q2_easy.py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q2_easy.py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선택: temporary-note(0.95), travel-v2(0.90), approval-rule(0.85)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other-memory(1.00) · travel-old(0.99)는 점수가 높아도 여전히 제외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만료 · 권한 · 현행 여부를 먼저 거르고, 남은 것끼리만 점수 비교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휴식 </a:t>
            </a:r>
            <a:r>
              <a:rPr b="1">
                <a:solidFill>
                  <a:srgbClr val="FB062F"/>
                </a:solidFill>
              </a:rPr>
              <a:t>10분</a:t>
            </a:r>
            <a:r>
              <a:rPr b="1">
                <a:solidFill>
                  <a:srgbClr val="858793"/>
                </a:solidFill>
              </a:rPr>
              <a:t>   후 재개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쉬는 시간 10분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다음: 2-1 단기 메모리와 장기 메모리 설계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2-1</a:t>
            </a:r>
            <a:r>
              <a:rPr b="1">
                <a:solidFill>
                  <a:srgbClr val="858793"/>
                </a:solidFill>
              </a:rPr>
              <a:t>   메모리 설계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단기 메모리와 장기 메모리 설계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단기 vs 장기 → 기억 후보 다섯 개 → decide_memory(결정, 이유) → 필요한 필드만 옮기기 → 조회 시점의 만료 확인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2-1 메모리 설계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단기와 장기는 저장 장소보다 쓰임으로 나눠요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23774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3040"/>
                <a:gridCol w="3383280"/>
                <a:gridCol w="338328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단기 메모리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장기 메모리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목적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지금 진행하는 대화와 작업을 이어 가요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다음 세션에서도 필요한 정보를 다시 써요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현재 예약, 직전 도구 결과, 미완료 단계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응답 언어 선호, 확인된 프로젝트 상태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끝나는 기준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작업 완료, 세션 종료, 상태 만료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목적 종료, 선호 변경, 보존 기한, 삭제 요청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주의점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오래된 도구 결과를 현재 사실로 쓰지 않아요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저장된 정보라도 현재 유효한지 확인해요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0080" y="3721608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저장 후보를 볼 때: 다음 대화의 어떤 질문에 쓰나요? · 누구의 정보인가요? · 당사자가 확인했나요? · 언제까지 유효한가요?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2-1 메모리 설계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저장 결정과 이유를 함께 돌려줘요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4023360" cy="24140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40080"/>
                <a:gridCol w="2011680"/>
                <a:gridCol w="137160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후보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특징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결정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m1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preference · 동의 · 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장기 저장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m2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session · A호텔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현재 대화만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m3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secret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저장하지 않음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m4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preference · 동의 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확인 필요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m5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preference · ttl 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확인 필요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663440" y="1051560"/>
            <a:ext cx="4023360" cy="23774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800600" y="1143000"/>
            <a:ext cx="37490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decide_memory(item):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if item["kind"] == "secret":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"저장하지 않음", "비밀 정보"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if item["kind"] == "session":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"현재 대화만", "일시적인 작업 상태"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if (item["kind"] != "preference"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or not item["consent"]):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"확인 필요", "재사용 목적 또는 동의 확인"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ttl = item["ttl_days"]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if type(ttl) is not int or not 1 &lt;= ttl &lt;= 180: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"확인 필요", "보존 기간 확인"</a:t>
            </a:r>
          </a:p>
          <a:p>
            <a:pPr algn="l"/>
            <a:r>
              <a:rPr sz="8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return "장기 저장", "선호와 보존 기간 확인됨"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3721608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비밀 정보는 임베딩 · 추출 단계로 보내기 전에 빼는 편이 좋아요.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모델의 추측과 사용자가 직접 밝힌 선호는 근거가 달라요.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2-1 메모리 설계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필요한 필드만 옮기고, 조회할 때 다시 만료를 봐요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3931920" cy="17373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24712"/>
            <a:ext cx="3657600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m1 -&gt; 장기 저장 / 선호와 보존 기간 확인됨</a:t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m2 -&gt; 현재 대화만 / 일시적인 작업 상태</a:t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m3 -&gt; 저장하지 않음 / 비밀 정보</a:t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m4 -&gt; 확인 필요 / 재사용 목적 또는 동의 확인</a:t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m5 -&gt; 확인 필요 / 보존 기간 확인</a:t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장기 기억 수: 1</a:t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세션 상태 수: 1</a:t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장기 기억 만료일: 2026-11-07</a:t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만료일의 조회 결과 수: 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1051560"/>
            <a:ext cx="4114800" cy="10972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709160" y="114300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active_memories(records, as_of):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[r for r in records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if date.fromisoformat(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 r["expires_on"]) &gt; as_of]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4572000" y="2286000"/>
          <a:ext cx="4114800" cy="17373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5840"/>
                <a:gridCol w="310896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필요한 확인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저장 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장기 재사용 필요? 민감 내용?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조회 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사용자 범위 · 관련성 · 만료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변경 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이전 값과 새 값 구분, 대상 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삭제 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꺼낸 컨텍스트 · 이력 · 캐시도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457200" y="2971800"/>
            <a:ext cx="3931920" cy="16002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3081528"/>
            <a:ext cx="356616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같은 문장이라도 누구의 기억인지 남겨요: 사용자 · 조직 ID, 출처와 확인 상태, 보존 기한과 변경 시각, 재사용 목적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2-1 메모리 설계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잘 기억하는 것과 적절하게 쓰는 것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21945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108960"/>
                <a:gridCol w="512064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자주 묻는 질문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교안의 답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기억이 많을수록 유리한가요?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유효하게 남아 있는지가 중요. 오래되거나 충돌하는 기억은 오히려 답을 틀리게 해요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30일이 지나면 자동으로 삭제되나요?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아니에요. 조회에서 빼는 필터일 뿐, 물리 삭제 · 백업 · 이력 정리는 별도 설계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요약한 대화는 장기 메모리인가요?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요약은 표현 방식. 세션을 넘어 재사용하기로 했을 때 장기 메모리 정책을 적용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57200" y="342900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5800" y="3429000"/>
            <a:ext cx="77724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B062F"/>
                </a:solidFill>
              </a:rPr>
              <a:t>다음 강의로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41617"/>
                </a:solidFill>
              </a:rPr>
              <a:t>이 리스트는 재실행하면 사라져요. 실제 저장소(Mem0)에 넣고, 같은 ID로 수정 · 삭제해 봐요.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2-1 메모리 설계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2-1. 새 후보 저장 판단과 만료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new_candidates = [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{"id": "m6", "text": "예시 코드를 함께 보여 주면 좋겠습니다.",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"kind": "preference", "consent": True, "ttl_days": 180},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{"id": "m7", "text": "결론을 먼저 말해 주세요.",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"kind": "preference", "consent": True, "ttl_days": True},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각 후보를 decide_memory로 판단해 (id, 결정) 목록 results를 만드세요.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"장기 저장"인 후보만 source_id, text, expires_on(today + ttl_days일)으로 new_records에 담으세요.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q1_hard.py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ch02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q1_hard.py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m6 → 장기 저장 (만료일 2027-04-06)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m7 → 확인 필요 (True는 bool, type(ttl) is int 검사에서 걸림)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만료 하루 전 1건 · 당일 0건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2-1 메모리 설계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2-1. 새 후보 저장 판단과 만료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new_candidates = [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{"id": "m6", "text": "예시 코드를 함께 보여 주면 좋겠습니다.",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"kind": "preference", "consent": True, "ttl_days": 180},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{"id": "m7", "text": "결론을 먼저 말해 주세요.",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"kind": "preference", "consent": True, "ttl_days": True},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results = []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new_records = []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item in new_candidates: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decision, reason = ____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results.append((item["id"], decision))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decision == "장기 저장":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new_records.append({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"source_id": item["id"], "text": item["text"],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"expires_on": (today + timedelta(days=____)).isoformat(),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})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q1_easy.py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ch02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q1_easy.py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m6 → 장기 저장 (만료일 2027-04-06)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m7 → 확인 필요 (True는 bool, type(ttl) is int 검사에서 걸림)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만료 하루 전 1건 · 당일 0건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2-2</a:t>
            </a:r>
            <a:r>
              <a:rPr b="1">
                <a:solidFill>
                  <a:srgbClr val="858793"/>
                </a:solidFill>
              </a:rPr>
              <a:t>   Mem0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Mem0로 메모리 저장부터 삭제까지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구성 요소 네 가지 → 저장 위치와 연결 설정 → add 응답의 ID → 범위 확인 후 수정 → 삭제 후 활성 목록 재확인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2-2 Mem0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메모리 시스템 안의 네 가지 역할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192024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143000"/>
            <a:ext cx="173736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41617"/>
                </a:solidFill>
              </a:rPr>
              <a:t>추출용 LLM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141617"/>
                </a:solidFill>
              </a:rPr>
              <a:t>저장할 사실 추출 · 갱신 판단</a:t>
            </a:r>
          </a:p>
          <a:p>
            <a:pPr algn="ctr">
              <a:spcAft>
                <a:spcPts val="400"/>
              </a:spcAft>
            </a:pPr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설정만, 호출 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60320" y="1097280"/>
            <a:ext cx="1920240" cy="16002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670048" y="1143000"/>
            <a:ext cx="173736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B062F"/>
                </a:solidFill>
              </a:rPr>
              <a:t>Embedder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141617"/>
                </a:solidFill>
              </a:rPr>
              <a:t>기억 · 질문 → 벡터</a:t>
            </a:r>
          </a:p>
          <a:p>
            <a:pPr algn="ctr">
              <a:spcAft>
                <a:spcPts val="400"/>
              </a:spcAft>
            </a:pPr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nomic-embed-text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1097280"/>
            <a:ext cx="1920240" cy="16002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773168" y="1143000"/>
            <a:ext cx="173736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B062F"/>
                </a:solidFill>
              </a:rPr>
              <a:t>Vector store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141617"/>
                </a:solidFill>
              </a:rPr>
              <a:t>벡터 · 기억 저장 · 조회</a:t>
            </a:r>
          </a:p>
          <a:p>
            <a:pPr algn="ctr">
              <a:spcAft>
                <a:spcPts val="400"/>
              </a:spcAft>
            </a:pPr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Qdrant 로컬 파일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59" y="1097280"/>
            <a:ext cx="192024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876288" y="1143000"/>
            <a:ext cx="173736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41617"/>
                </a:solidFill>
              </a:rPr>
              <a:t>History store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141617"/>
                </a:solidFill>
              </a:rPr>
              <a:t>변경 이력 기록</a:t>
            </a:r>
          </a:p>
          <a:p>
            <a:pPr algn="ctr">
              <a:spcAft>
                <a:spcPts val="400"/>
              </a:spcAft>
            </a:pPr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SQLite history.db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2880360"/>
            <a:ext cx="8229600" cy="16916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94360" y="2971800"/>
            <a:ext cx="7955279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memory = Memory.from_config({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"llm": {"provider": "ollama", ...},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"embedder": {"provider": "ollama", "config": {"model": "nomic-embed-text:latest", ...}},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"vector_store": {"provider": "qdrant", "config": {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"collection_name": "ce_lecture_memory", "path": str(store / "qdrant"), "embedding_model_dims": 768}},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"history_db_path": str(store / "history.db"),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})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2-2 Mem0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저장한 항목의 ID를 받아 조회해요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5120640" cy="19202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added = memory.add("한국어로 짧은 답변을 선호합니다.",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user_id=user_id, infer=False,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metadata={"source": "turn-1", "purpose": "answer-style"})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new_ids = [row["id"] for row in added["results"]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if row.get("event") == "ADD"]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if len(new_ids) != 1: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raise RuntimeError("등록한 기억 ID 하나를 확인할 수 없어요.")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target_id = new_ids[0]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108960"/>
            <a:ext cx="5120640" cy="5029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3182112"/>
            <a:ext cx="484632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저장 수: 1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등록한 기억 검색: True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760720" y="1051560"/>
          <a:ext cx="2926080" cy="2057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71600"/>
                <a:gridCol w="15544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값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목적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1617"/>
                          </a:solidFill>
                        </a:rPr>
                        <a:t>user_id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누구의 기억인지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1617"/>
                          </a:solidFill>
                        </a:rPr>
                        <a:t>metadata.source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어느 대화에서 왔는지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1617"/>
                          </a:solidFill>
                        </a:rPr>
                        <a:t>metadata.purpose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어떤 목적으로 재사용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1617"/>
                          </a:solidFill>
                        </a:rPr>
                        <a:t>target_id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등록된 기억 한 항목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457200" y="3749039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385876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한 건을 검색해서 찾았다고 한국어 검색 품질이 좋다고 판단할 수 없어요. 품질은 여러 기억과 관련 없는 질문까지 넣어 확인해요.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2-2 Mem0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검색 순서 대신 확인한 ID로 수정해요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937760" cy="21945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663440" cy="201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owned_record(memory_id):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record = memory.get(memory_id)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not record or record.get("user_id") != user_id: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raise PermissionError("현재 사용자의 기억이 아니에요.")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record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owned_record(target_id)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memory.update(target_id, text="한국어로 자세한 설명을 선호합니다.")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updated = owned_record(target_id)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print("수정 후:", updated["memory"])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383280"/>
            <a:ext cx="4937760" cy="457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3456432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수정 후: 한국어로 자세한 설명을 선호합니다.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1143000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669280" y="114300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✗ search 결과 [0]을 수정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1828800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669280" y="182880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✗ update 응답만 보고 성공 처리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77840" y="2514600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669280" y="251460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8A70"/>
                </a:solidFill>
              </a:rPr>
              <a:t>✓ add 응답 ID → 범위 확인 → 수정 → 재조회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77840" y="3291840"/>
            <a:ext cx="3108960" cy="12801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760720" y="3401568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user_id 필터만으로 인증이 해결되지 않아요. 필터에 넣는 ID 자체를 신뢰할 수 있어야 해요.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2-2 Mem0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삭제 후에는 활성 목록을 다시 확인해요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572000" cy="13716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297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owned_record(target_id)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memory.delete(target_id)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remaining = memory.get_all(filters=scope)["results"]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print("활성 목록에서 삭제:",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all(row["id"] != target_id for row in remaining))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memory.vector_store.client.close()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560320"/>
            <a:ext cx="4572000" cy="457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633472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활성 목록에서 삭제: True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212080" y="1051560"/>
          <a:ext cx="3474720" cy="2057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71600"/>
                <a:gridCol w="210312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반영할 위치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살펴볼 내용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활성 메모리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목록 · 검색에 다시 안 나오나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현재 컨텍스트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꺼낸 기억을 재사용 안 하나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이력과 로그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원문이 어디 남나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캐시와 백업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보존 정책 · 제거 절차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457200" y="3200400"/>
            <a:ext cx="4572000" cy="13716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3310128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삭제 기능의 반영 범위는 제품 동작과 사용자 안내가 일치해야 해요.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"완전히 삭제됐어요"라고 안내하려면 이력 · 백업까지 처리해야 해요.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66360" y="2286000"/>
            <a:ext cx="3566160" cy="411480"/>
          </a:xfrm>
          <a:prstGeom prst="roundRect">
            <a:avLst>
              <a:gd name="adj" fmla="val 8000"/>
            </a:avLst>
          </a:prstGeom>
          <a:noFill/>
          <a:ln w="317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2-2 Mem0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2-2. 두 기억 중 하나만 ID로 삭제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first = memory.add("표로 정리한 답변을 선호합니다.", user_id=user_id, infer=False)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second = memory.add("영어 용어는 괄호로 함께 적어 주세요.", user_id=user_id, infer=False)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각 add 응답에서 event가 "ADD"인 결과의 id를 꺼내 first_id, second_id에 담으세요.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owned_record로 범위를 확인한 뒤 first_id만 삭제하세요.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q2_hard.py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ch02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q2_hard.py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add 응답의 ADD 결과에서 ID를 꺼내 대상을 고정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삭제 후 남은 기억 = 두 번째 하나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다른 사용자의 ID → owned_record가 PermissionError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2-2 Mem0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2-2. 두 기억 중 하나만 ID로 삭제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first = memory.add("표로 정리한 답변을 선호합니다.", user_id=user_id, infer=False)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second = memory.add("영어 용어는 괄호로 함께 적어 주세요.", user_id=user_id, infer=False)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first_id = [row["id"] for row in first["results"] if ____][0]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second_id = [row["id"] for row in second["results"] if row.get("event") == "ADD"][0]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owned_record(first_id)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memory.delete(____)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q2_easy.py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ch02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q2_easy.py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add 응답의 ADD 결과에서 ID를 꺼내 대상을 고정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삭제 후 남은 기억 = 두 번째 하나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다른 사용자의 ID → owned_record가 PermissionError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정리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오전 결과물: 무엇을 넣고, 누구의 것을, 언제까지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1-1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입력 구성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201168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[id / kind / source]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system · user 분리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13432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56032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697479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1-2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79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우선순위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79" y="201168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0.99 · 1.00도 제외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선택 travel-v2 · approval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416552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66344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80060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2-1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메모리 설계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201168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m1만 장기 저장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만료일 당일 0개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19671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766559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90372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2-2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Mem0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201168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저장 1 · 수정 · 삭제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이력은 남을 수 있음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2926080"/>
            <a:ext cx="8229600" cy="12801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85800" y="2926080"/>
            <a:ext cx="77724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B062F"/>
                </a:solidFill>
              </a:rPr>
              <a:t>오후 3 · 4장으로 이어지는 질문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41617"/>
                </a:solidFill>
              </a:rPr>
              <a:t>고른 자료와 기억, 대화가 쌓여 한도를 넘으면 무엇을 남기고 무엇을 줄일까요?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41617"/>
                </a:solidFill>
              </a:rPr>
              <a:t>→ 토큰 예산 · Sliding Window · 요약 · Prompt Caching · Prompt Injection</a:t>
            </a:r>
          </a:p>
        </p:txBody>
      </p:sp>
    </p:spTree>
  </p:cSld>
  <p:clrMapOvr>
    <a:masterClrMapping/>
  </p:clrMapOvr>
</p:sld>
</file>

<file path=ppt/slides/slide9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label-375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Context Engineering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Private LLM Course · 오전 마무리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질문과 정리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/>
            </a:r>
            <a:endParaRPr lang="en-US" sz="3800" dirty="0"/>
          </a:p>
        </p:txBody>
      </p:sp>
      <p:sp>
        <p:nvSpPr>
          <p:cNvPr id="4" name="dlabel-376"/>
          <p:cNvSpPr txBox="1"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오후 수업 전에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직접 해 볼 것</a:t>
            </a:r>
            <a:endParaRPr lang="en-US" sz="1200" dirty="0"/>
          </a:p>
        </p:txBody>
      </p:sp>
      <p:sp>
        <p:nvSpPr>
          <p:cNvPr id="5" name="t-377"/>
          <p:cNvSpPr txBox="1"/>
          <p:nvPr/>
        </p:nvSpPr>
        <p:spPr>
          <a:xfrm>
            <a:off x="54864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ch01/lesson_02.py의 question을 "호텔비 상한"으로</a:t>
            </a:r>
            <a:endParaRPr lang="en-US" sz="1500" dirty="0"/>
          </a:p>
        </p:txBody>
      </p:sp>
      <p:sp>
        <p:nvSpPr>
          <p:cNvPr id="6" name="t-378"/>
          <p:cNvSpPr txBox="1"/>
          <p:nvPr/>
        </p:nvSpPr>
        <p:spPr>
          <a:xfrm>
            <a:off x="548640" y="34107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키워드 선택기가 travel을 놓치는지 확인</a:t>
            </a:r>
            <a:endParaRPr lang="en-US" sz="950" dirty="0"/>
          </a:p>
        </p:txBody>
      </p:sp>
      <p:sp>
        <p:nvSpPr>
          <p:cNvPr id="7" name="t-379"/>
          <p:cNvSpPr txBox="1"/>
          <p:nvPr/>
        </p:nvSpPr>
        <p:spPr>
          <a:xfrm>
            <a:off x="54864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ch02/local_store 폴더 열어 보기</a:t>
            </a:r>
            <a:endParaRPr lang="en-US" sz="1500" dirty="0"/>
          </a:p>
        </p:txBody>
      </p:sp>
      <p:sp>
        <p:nvSpPr>
          <p:cNvPr id="8" name="t-380"/>
          <p:cNvSpPr txBox="1"/>
          <p:nvPr/>
        </p:nvSpPr>
        <p:spPr>
          <a:xfrm>
            <a:off x="548640" y="38679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qdrant 데이터와 history.db가 따로 있는지 확인</a:t>
            </a:r>
            <a:endParaRPr lang="en-US" sz="950" dirty="0"/>
          </a:p>
        </p:txBody>
      </p:sp>
      <p:pic>
        <p:nvPicPr>
          <p:cNvPr id="9" name="ts-381" descr="/private/tmp/claude-501/-Users-giin-Desktop-work/450004e7-3239-436b-91c3-140d15687ef1/scratchpad/deck/img/teamsparta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81728"/>
            <a:ext cx="1051560" cy="137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NT Review">
  <a:themeElements>
    <a:clrScheme name="KANT Review">
      <a:dk1>
        <a:srgbClr val="141617"/>
      </a:dk1>
      <a:lt1>
        <a:srgbClr val="FFFFFF"/>
      </a:lt1>
      <a:dk2>
        <a:srgbClr val="0C0E13"/>
      </a:dk2>
      <a:lt2>
        <a:srgbClr val="F3F4F6"/>
      </a:lt2>
      <a:accent1>
        <a:srgbClr val="FB062F"/>
      </a:accent1>
      <a:accent2>
        <a:srgbClr val="1F8A70"/>
      </a:accent2>
      <a:accent3>
        <a:srgbClr val="41414B"/>
      </a:accent3>
      <a:accent4>
        <a:srgbClr val="858793"/>
      </a:accent4>
      <a:accent5>
        <a:srgbClr val="E0E1E5"/>
      </a:accent5>
      <a:accent6>
        <a:srgbClr val="FFF0F2"/>
      </a:accent6>
      <a:hlink>
        <a:srgbClr val="2F6FB0"/>
      </a:hlink>
      <a:folHlink>
        <a:srgbClr val="6B4FA0"/>
      </a:folHlink>
    </a:clrScheme>
    <a:fontScheme name="KANT Review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2일차 오전 · Private LLM Course</dc:title>
  <dc:subject>PptxGenJS Presentation</dc:subject>
  <dc:creator>김기인</dc:creator>
  <cp:lastModifiedBy>김기인</cp:lastModifiedBy>
  <cp:revision>1</cp:revision>
  <dcterms:created xsi:type="dcterms:W3CDTF">2026-10-05T08:57:24Z</dcterms:created>
  <dcterms:modified xsi:type="dcterms:W3CDTF">2026-10-05T08:57:24Z</dcterms:modified>
</cp:coreProperties>
</file>